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T Sans Narrow"/>
      <p:regular r:id="rId24"/>
      <p:bold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TSansNarrow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PTSansNarrow-bold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bb08db5a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bb08db5a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bb08db5a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bb08db5a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bb08db5a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bb08db5a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bb08db5a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bb08db5a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bb08db5a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bb08db5a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bb08db5a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bb08db5a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bb08db5a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bb08db5a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bb08db5a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bb08db5a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bb08db5a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bb08db5a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bb08db5a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bb08db5a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bb08db5a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bb08db5a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bb08db5a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bb08db5a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bb08db5a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bb08db5a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bb08db5a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bb08db5a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bb08db5a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bb08db5a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bb08db5a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bb08db5a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bb08db5a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bb08db5a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youtube.com/watch?v=TU0ankRcHmo&amp;list=PLoROMvodv4rOP-ImU-O1rYRg2RFxomvFp&amp;index=10" TargetMode="External"/><Relationship Id="rId4" Type="http://schemas.openxmlformats.org/officeDocument/2006/relationships/hyperlink" Target="https://www.youtube.com/watch?v=rK2ZBmQHVVs&amp;list=PLoROMvodv4rOP-ImU-O1rYRg2RFxomvFp&amp;index=11" TargetMode="External"/><Relationship Id="rId5" Type="http://schemas.openxmlformats.org/officeDocument/2006/relationships/hyperlink" Target="https://www.youtube.com/watch?v=HbzQzUaJ_9I&amp;list=PLoROMvodv4rOP-ImU-O1rYRg2RFxomvFp&amp;index=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АЛГОРИТМИ И СТРУКТУРЕ ПОДАТАКА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ПРОЈЕКАТ 2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2677350" y="3469450"/>
            <a:ext cx="378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2025/2026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Задатак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Симулација друштвене мреже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Програм треба да формира одговарајуће структуре које би подржале и олакшале претрагу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Конзолни мени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PageRank </a:t>
            </a:r>
            <a:r>
              <a:rPr lang="en-GB"/>
              <a:t>алгоритам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4527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Направљен од стране Сергеја Брина и Лери Пејџа (“</a:t>
            </a:r>
            <a:r>
              <a:rPr i="1" lang="en-GB"/>
              <a:t>nomen est omen</a:t>
            </a:r>
            <a:r>
              <a:rPr lang="en-GB"/>
              <a:t>”) 1996.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Прототип овог алгоритма користи компанија Гугл од оснивања 1998.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Идеја је да на рангирање страница на интернету утичу и везе (односно линкови) међу страницама.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Странице и везе чине граф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1100" y="1304825"/>
            <a:ext cx="4000502" cy="3223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PageRank </a:t>
            </a:r>
            <a:r>
              <a:rPr lang="en-GB"/>
              <a:t>алгоритам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266325"/>
            <a:ext cx="4652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Наша имплементација повлачи паралелу и користи овај принцип да одреди “популарност” неког корисника друштвене мреже.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Граф је направљен од корисника друштвене мреже и конекција које су на тој мрежи направили.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6200" y="1304825"/>
            <a:ext cx="3875400" cy="3122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PageRank </a:t>
            </a:r>
            <a:r>
              <a:rPr lang="en-GB"/>
              <a:t>алгоритам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266325"/>
            <a:ext cx="47358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Да ли су сви линкови једнаки?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Линкови са битних страница вреде више.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Ако странице </a:t>
            </a:r>
            <a:r>
              <a:rPr i="1" lang="en-GB"/>
              <a:t>i </a:t>
            </a:r>
            <a:r>
              <a:rPr lang="en-GB"/>
              <a:t>има утицај </a:t>
            </a:r>
            <a:r>
              <a:rPr i="1" lang="en-GB"/>
              <a:t>ri, </a:t>
            </a:r>
            <a:r>
              <a:rPr lang="en-GB"/>
              <a:t>и </a:t>
            </a:r>
            <a:r>
              <a:rPr i="1" lang="en-GB"/>
              <a:t>di </a:t>
            </a:r>
            <a:r>
              <a:rPr lang="en-GB"/>
              <a:t>излазних линкова, онда сваки излазни линк преноси </a:t>
            </a:r>
            <a:r>
              <a:rPr i="1" lang="en-GB"/>
              <a:t>ri/di </a:t>
            </a:r>
            <a:r>
              <a:rPr lang="en-GB"/>
              <a:t>утицаја на друге странице.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Утицај странице </a:t>
            </a:r>
            <a:r>
              <a:rPr i="1" lang="en-GB"/>
              <a:t>ј</a:t>
            </a:r>
            <a:r>
              <a:rPr lang="en-GB"/>
              <a:t> је сума вредности улазних линкова.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100" y="728613"/>
            <a:ext cx="3145986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PageRank </a:t>
            </a:r>
            <a:r>
              <a:rPr lang="en-GB"/>
              <a:t>алгоритам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266325"/>
            <a:ext cx="46869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Ранк чвора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8600" y="1054850"/>
            <a:ext cx="2437956" cy="368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8575" y="1981412"/>
            <a:ext cx="1947875" cy="11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PageRank </a:t>
            </a:r>
            <a:r>
              <a:rPr lang="en-GB"/>
              <a:t>алгоритам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283850" y="1259375"/>
            <a:ext cx="4603500" cy="21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Стохастичка матрица суседства М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Све вредности у колони се сабирају до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Ранг вектор </a:t>
            </a:r>
            <a:r>
              <a:rPr i="1" lang="en-GB"/>
              <a:t>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Један унос по страници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-GB"/>
              <a:t>ri </a:t>
            </a:r>
            <a:r>
              <a:rPr lang="en-GB"/>
              <a:t>је утицај странице </a:t>
            </a:r>
            <a:r>
              <a:rPr i="1" lang="en-GB"/>
              <a:t>i</a:t>
            </a:r>
            <a:endParaRPr i="1"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28" y="3520025"/>
            <a:ext cx="5148351" cy="96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1575" y="747498"/>
            <a:ext cx="2413700" cy="20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6726" y="2905149"/>
            <a:ext cx="724175" cy="56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PageRank </a:t>
            </a:r>
            <a:r>
              <a:rPr lang="en-GB"/>
              <a:t>алгоритам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6365" y="1266325"/>
            <a:ext cx="5871276" cy="359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PageRank </a:t>
            </a:r>
            <a:r>
              <a:rPr lang="en-GB"/>
              <a:t>алгоритам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-GB"/>
              <a:t>Random walk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Где се</a:t>
            </a:r>
            <a:r>
              <a:rPr i="1" lang="en-GB"/>
              <a:t> налази “сурфер” </a:t>
            </a:r>
            <a:r>
              <a:rPr lang="en-GB"/>
              <a:t>у кораку</a:t>
            </a:r>
            <a:r>
              <a:rPr i="1" lang="en-GB"/>
              <a:t> t+1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Прати излазни линк униформно и насумично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-GB"/>
              <a:t>p(t) </a:t>
            </a:r>
            <a:r>
              <a:rPr lang="en-GB"/>
              <a:t>је вектор вероватноће у претходном кораку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Стационарна дистрибуција насумичне шетње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i="1" lang="en-GB"/>
              <a:t>r </a:t>
            </a:r>
            <a:r>
              <a:rPr lang="en-GB"/>
              <a:t>је стационарна дистрибуција насумичних шетњи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5300" y="1555958"/>
            <a:ext cx="2387875" cy="203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575" y="2272553"/>
            <a:ext cx="3318049" cy="4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8050" y="3156750"/>
            <a:ext cx="4753725" cy="5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8047" y="4031170"/>
            <a:ext cx="1855878" cy="53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PageRank </a:t>
            </a:r>
            <a:r>
              <a:rPr lang="en-GB"/>
              <a:t>алгоритам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4912" y="1266325"/>
            <a:ext cx="6114174" cy="369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PageRank </a:t>
            </a:r>
            <a:r>
              <a:rPr lang="en-GB"/>
              <a:t>алгоритам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-GB"/>
              <a:t>Spider Trap </a:t>
            </a:r>
            <a:r>
              <a:rPr lang="en-GB"/>
              <a:t>проблем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i="1" lang="en-GB"/>
              <a:t>Dead end </a:t>
            </a:r>
            <a:r>
              <a:rPr lang="en-GB"/>
              <a:t>проблем</a:t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525" y="1336325"/>
            <a:ext cx="3193275" cy="123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3534" y="2755645"/>
            <a:ext cx="2945561" cy="11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PageRank </a:t>
            </a:r>
            <a:r>
              <a:rPr lang="en-GB"/>
              <a:t>алгоритам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311700" y="1266325"/>
            <a:ext cx="4597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Решење за претходна два проблема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Шанса да се посети било која страница</a:t>
            </a:r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2224" y="1991074"/>
            <a:ext cx="3904525" cy="108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PageRank </a:t>
            </a:r>
            <a:r>
              <a:rPr lang="en-GB"/>
              <a:t>алгоритам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124" y="1152425"/>
            <a:ext cx="4915751" cy="374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Претрага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Обезбедити претрагу корисничког имена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Резултат претраге садржи рангиране кориснике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Пожељно би било означити кориснички унос у резултатима претраге.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Структура података </a:t>
            </a:r>
            <a:r>
              <a:rPr i="1" lang="en-GB"/>
              <a:t>Trie</a:t>
            </a:r>
            <a:endParaRPr i="1"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311700" y="1266325"/>
            <a:ext cx="4798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Препоручује се складиштење података о корисничким именима у структри података </a:t>
            </a:r>
            <a:r>
              <a:rPr i="1" lang="en-GB"/>
              <a:t>Trie</a:t>
            </a:r>
            <a:r>
              <a:rPr lang="en-GB"/>
              <a:t>.</a:t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200" y="1381375"/>
            <a:ext cx="3735999" cy="227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Претрага</a:t>
            </a:r>
            <a:endParaRPr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За већи број поена, потребно је подржати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Блокирање корисника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“</a:t>
            </a:r>
            <a:r>
              <a:rPr i="1" lang="en-GB"/>
              <a:t>Did you mean?</a:t>
            </a:r>
            <a:r>
              <a:rPr lang="en-GB"/>
              <a:t>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-GB"/>
              <a:t>Autocomplete</a:t>
            </a:r>
            <a:endParaRPr i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Серијализација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Потребно је све структуре података креирати унапред и серијализовати.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Структуре се при покретању програма само учитавају.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Погледати модул </a:t>
            </a:r>
            <a:r>
              <a:rPr i="1" lang="en-GB"/>
              <a:t>pickle.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https://docs.python.org/3/library/pickle.html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Додатни материјали</a:t>
            </a:r>
            <a:endParaRPr/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-GB"/>
              <a:t>Stanford CS224W Page rank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-GB" u="sng">
                <a:solidFill>
                  <a:schemeClr val="hlink"/>
                </a:solidFill>
                <a:hlinkClick r:id="rId3"/>
              </a:rPr>
              <a:t>https://www.youtube.com/watch?v=TU0ankRcHmo&amp;list=PLoROMvodv4rOP-ImU-O1rYRg2RFxomvFp&amp;index=10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-GB" u="sng">
                <a:solidFill>
                  <a:schemeClr val="hlink"/>
                </a:solidFill>
                <a:hlinkClick r:id="rId4"/>
              </a:rPr>
              <a:t>https://www.youtube.com/watch?v=rK2ZBmQHVVs&amp;list=PLoROMvodv4rOP-ImU-O1rYRg2RFxomvFp&amp;index=11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-GB" u="sng">
                <a:solidFill>
                  <a:schemeClr val="hlink"/>
                </a:solidFill>
                <a:hlinkClick r:id="rId5"/>
              </a:rPr>
              <a:t>https://www.youtube.com/watch?v=HbzQzUaJ_9I&amp;list=PLoROMvodv4rOP-ImU-O1rYRg2RFxomvFp&amp;index=12</a:t>
            </a:r>
            <a:r>
              <a:rPr i="1" lang="en-GB"/>
              <a:t> 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